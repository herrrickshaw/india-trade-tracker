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Soybean meal (2304)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796</c:v>
                </c:pt>
                <c:pt idx="1">
                  <c:v>1109</c:v>
                </c:pt>
                <c:pt idx="2">
                  <c:v>473</c:v>
                </c:pt>
                <c:pt idx="3">
                  <c:v>1135</c:v>
                </c:pt>
                <c:pt idx="4">
                  <c:v>552</c:v>
                </c:pt>
                <c:pt idx="5">
                  <c:v>853</c:v>
                </c:pt>
                <c:pt idx="6">
                  <c:v>1037</c:v>
                </c:pt>
                <c:pt idx="7">
                  <c:v>852</c:v>
                </c:pt>
                <c:pt idx="8">
                  <c:v>581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oilcakes (2305–06)</c:v>
                </c:pt>
              </c:strCache>
            </c:strRef>
          </c:tx>
          <c:spPr>
            <a:solidFill>
              <a:srgbClr val="E07B39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297</c:v>
                </c:pt>
                <c:pt idx="1">
                  <c:v>400</c:v>
                </c:pt>
                <c:pt idx="2">
                  <c:v>355</c:v>
                </c:pt>
                <c:pt idx="3">
                  <c:v>451</c:v>
                </c:pt>
                <c:pt idx="4">
                  <c:v>480</c:v>
                </c:pt>
                <c:pt idx="5">
                  <c:v>749</c:v>
                </c:pt>
                <c:pt idx="6">
                  <c:v>677</c:v>
                </c:pt>
                <c:pt idx="7">
                  <c:v>495</c:v>
                </c:pt>
                <c:pt idx="8">
                  <c:v>460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Fishmeal (2301)</c:v>
                </c:pt>
              </c:strCache>
            </c:strRef>
          </c:tx>
          <c:spPr>
            <a:solidFill>
              <a:srgbClr val="1D9E75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83</c:v>
                </c:pt>
                <c:pt idx="1">
                  <c:v>106</c:v>
                </c:pt>
                <c:pt idx="2">
                  <c:v>76</c:v>
                </c:pt>
                <c:pt idx="3">
                  <c:v>86</c:v>
                </c:pt>
                <c:pt idx="4">
                  <c:v>94</c:v>
                </c:pt>
                <c:pt idx="5">
                  <c:v>336</c:v>
                </c:pt>
                <c:pt idx="6">
                  <c:v>453</c:v>
                </c:pt>
                <c:pt idx="7">
                  <c:v>269</c:v>
                </c:pt>
                <c:pt idx="8">
                  <c:v>508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Feed preps (2309)</c:v>
                </c:pt>
              </c:strCache>
            </c:strRef>
          </c:tx>
          <c:spPr>
            <a:solidFill>
              <a:srgbClr val="C98500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273</c:v>
                </c:pt>
                <c:pt idx="1">
                  <c:v>291</c:v>
                </c:pt>
                <c:pt idx="2">
                  <c:v>256</c:v>
                </c:pt>
                <c:pt idx="3">
                  <c:v>283</c:v>
                </c:pt>
                <c:pt idx="4">
                  <c:v>339</c:v>
                </c:pt>
                <c:pt idx="5">
                  <c:v>332</c:v>
                </c:pt>
                <c:pt idx="6">
                  <c:v>348</c:v>
                </c:pt>
                <c:pt idx="7">
                  <c:v>419</c:v>
                </c:pt>
                <c:pt idx="8">
                  <c:v>495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Bran, DDGS, straw, hay</c:v>
                </c:pt>
              </c:strCache>
            </c:strRef>
          </c:tx>
          <c:spPr>
            <a:solidFill>
              <a:srgbClr val="8A8A80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11</c:v>
                </c:pt>
                <c:pt idx="1">
                  <c:v>12</c:v>
                </c:pt>
                <c:pt idx="2">
                  <c:v>10</c:v>
                </c:pt>
                <c:pt idx="3">
                  <c:v>68</c:v>
                </c:pt>
                <c:pt idx="4">
                  <c:v>122</c:v>
                </c:pt>
                <c:pt idx="5">
                  <c:v>232</c:v>
                </c:pt>
                <c:pt idx="6">
                  <c:v>268</c:v>
                </c:pt>
                <c:pt idx="7">
                  <c:v>181</c:v>
                </c:pt>
                <c:pt idx="8">
                  <c:v>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Soybean meal exports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6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796</c:v>
                </c:pt>
                <c:pt idx="1">
                  <c:v>1109</c:v>
                </c:pt>
                <c:pt idx="2">
                  <c:v>473</c:v>
                </c:pt>
                <c:pt idx="3">
                  <c:v>1135</c:v>
                </c:pt>
                <c:pt idx="4">
                  <c:v>552</c:v>
                </c:pt>
                <c:pt idx="5">
                  <c:v>853</c:v>
                </c:pt>
                <c:pt idx="6">
                  <c:v>1037</c:v>
                </c:pt>
                <c:pt idx="7">
                  <c:v>852</c:v>
                </c:pt>
                <c:pt idx="8">
                  <c:v>581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F6B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FY2024-25</c:v>
                </c:pt>
              </c:strCache>
            </c:strRef>
          </c:tx>
          <c:spPr>
            <a:solidFill>
              <a:srgbClr val="8A8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6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China</c:v>
                  </c:pt>
                  <c:pt idx="1">
                    <c:v>Bangladesh</c:v>
                  </c:pt>
                  <c:pt idx="2">
                    <c:v>Korea</c:v>
                  </c:pt>
                  <c:pt idx="3">
                    <c:v>Thailand</c:v>
                  </c:pt>
                  <c:pt idx="4">
                    <c:v>Vietnam</c:v>
                  </c:pt>
                  <c:pt idx="5">
                    <c:v>Indonesia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158</c:v>
                </c:pt>
                <c:pt idx="2">
                  <c:v>122</c:v>
                </c:pt>
                <c:pt idx="3">
                  <c:v>87</c:v>
                </c:pt>
                <c:pt idx="4">
                  <c:v>48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FY2025-26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6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China</c:v>
                  </c:pt>
                  <c:pt idx="1">
                    <c:v>Bangladesh</c:v>
                  </c:pt>
                  <c:pt idx="2">
                    <c:v>Korea</c:v>
                  </c:pt>
                  <c:pt idx="3">
                    <c:v>Thailand</c:v>
                  </c:pt>
                  <c:pt idx="4">
                    <c:v>Vietnam</c:v>
                  </c:pt>
                  <c:pt idx="5">
                    <c:v>Indonesia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195</c:v>
                </c:pt>
                <c:pt idx="1">
                  <c:v>59</c:v>
                </c:pt>
                <c:pt idx="2">
                  <c:v>51</c:v>
                </c:pt>
                <c:pt idx="3">
                  <c:v>48</c:v>
                </c:pt>
                <c:pt idx="4">
                  <c:v>40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F6B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Fishmeal (2301)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83</c:v>
                </c:pt>
                <c:pt idx="1">
                  <c:v>106</c:v>
                </c:pt>
                <c:pt idx="2">
                  <c:v>76</c:v>
                </c:pt>
                <c:pt idx="3">
                  <c:v>86</c:v>
                </c:pt>
                <c:pt idx="4">
                  <c:v>94</c:v>
                </c:pt>
                <c:pt idx="5">
                  <c:v>336</c:v>
                </c:pt>
                <c:pt idx="6">
                  <c:v>453</c:v>
                </c:pt>
                <c:pt idx="7">
                  <c:v>269</c:v>
                </c:pt>
                <c:pt idx="8">
                  <c:v>508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Feed preps (2309)</c:v>
                </c:pt>
              </c:strCache>
            </c:strRef>
          </c:tx>
          <c:spPr>
            <a:solidFill>
              <a:srgbClr val="C98500"/>
            </a:solidFill>
            <a:ln w="31750" cap="flat">
              <a:solidFill>
                <a:srgbClr val="C98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8500"/>
              </a:solidFill>
              <a:ln w="9525" cap="flat">
                <a:solidFill>
                  <a:srgbClr val="C98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273</c:v>
                </c:pt>
                <c:pt idx="1">
                  <c:v>291</c:v>
                </c:pt>
                <c:pt idx="2">
                  <c:v>256</c:v>
                </c:pt>
                <c:pt idx="3">
                  <c:v>283</c:v>
                </c:pt>
                <c:pt idx="4">
                  <c:v>339</c:v>
                </c:pt>
                <c:pt idx="5">
                  <c:v>332</c:v>
                </c:pt>
                <c:pt idx="6">
                  <c:v>348</c:v>
                </c:pt>
                <c:pt idx="7">
                  <c:v>419</c:v>
                </c:pt>
                <c:pt idx="8">
                  <c:v>495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DDGS &amp; dregs (2303)</c:v>
                </c:pt>
              </c:strCache>
            </c:strRef>
          </c:tx>
          <c:spPr>
            <a:solidFill>
              <a:srgbClr val="8A8A80"/>
            </a:solidFill>
            <a:ln w="31750" cap="flat">
              <a:solidFill>
                <a:srgbClr val="8A8A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A80"/>
              </a:solidFill>
              <a:ln w="9525" cap="flat">
                <a:solidFill>
                  <a:srgbClr val="8A8A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</c:v>
                </c:pt>
                <c:pt idx="1">
                  <c:v>8</c:v>
                </c:pt>
                <c:pt idx="2">
                  <c:v>3</c:v>
                </c:pt>
                <c:pt idx="3">
                  <c:v>15</c:v>
                </c:pt>
                <c:pt idx="4">
                  <c:v>8</c:v>
                </c:pt>
                <c:pt idx="5">
                  <c:v>26</c:v>
                </c:pt>
                <c:pt idx="6">
                  <c:v>83</c:v>
                </c:pt>
                <c:pt idx="7">
                  <c:v>105</c:v>
                </c:pt>
                <c:pt idx="8">
                  <c:v>166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fodder exports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global fodder market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Ministry of Commerce trade data (EIDB / DGCI&amp;S) shows, FY2017-18 → FY2025-26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23 July 2026  ·  values in US$ million  ·  data updated by DGCI&amp;S 19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headline: India exports feed protein, not fodder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and forage (HS 1214) are a rounding error; oilseed meals, fishmeal and compound feed are the real basket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$2.24bn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Fodder-complex exports FY25-26 — flat on FY25, below the $2.78bn FY24 peak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2424" y="1691640"/>
            <a:ext cx="2615184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3575304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75304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/ lucerne / forage exports (HS 1214) — India skips the global hay trade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691640"/>
            <a:ext cx="2615184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9088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Fishmeal (HS 2301) — $508M, the boom line, ~6× its FY18 level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9992" y="1691640"/>
            <a:ext cx="2615184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9262872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62872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meal (HS 2304) — $581M, priced out by Argentina &amp; Brazil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shift, not growth. </a:t>
            </a:r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flat total, commodity meals (soymeal −32%, bran −58%) are being replaced by fishmeal (+88%), feed preparations (+18%) and DDGS (+58%) — higher-value, faster-growing lines.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tradestat.commerce.gov.in · EIDB commodity-wise exports, 4-digit HS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years of the fodder complex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by HS heading, US$ million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82880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peak: $2.78bn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simultaneous highs in soymeal, rapeseed meal and fishmeal.
</a:t>
            </a:r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FY26: $2.24bn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flat vs FY25 — but blue (soymeal) shrinks while green (fishmeal) and yellow (feed preps) take over the stack.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tradestat.commerce.gov.in · EIDB, pulled 23 Jul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Soybean meal: structurally uncompetitive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2304 — India’s largest fodder line fell 32% in FY25-26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75120" y="20848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FOB ~$605/t vs ~$430/t CIF Rotterdam for South American meal; record Brazilian crop and Argentine export-tax cuts keep 2025/26 bearish.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7512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retreat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75120" y="350215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$129M→$91M, France $84M→$50M, Belgium −82%. SEA: total oilmeal volumes −13% in FY25-26; Red Sea rerouting added freight.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0" y="491947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non-GMO premium niche (Germany, France, Japan, Korea) and captive neighbours (Nepal, Bangladesh).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EIDB; Solvent Extractors’ Association of India; USDA outlook 2025/26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rescues rapeseed meal — and concentrates the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2306 top destinations, US$ million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389120" cy="4114800"/>
          </a:xfrm>
          <a:prstGeom prst="roundRect">
            <a:avLst>
              <a:gd name="adj" fmla="val 1778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20574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$16M → $195M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to China in one year, after Beijing restricted Canadian canola.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the old buyers collapsed: Bangladesh −63%, Korea −58%, Thailand −45%.
</a:t>
            </a:r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now trades on China–Canada politics, not Indian fundamentals.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EIDB commodity × country exports, HS 2306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 engines: fishmeal, feed preps, DDGS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million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Fishmeal — $508M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19933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Aquaculture demand: China $174M, Vietnam $126M (3×), Turkey $56M. Capacity unlocked after India lifted plant restrictions.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preps — $495M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345643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every single year of the series. Diversified buyers; pet food (230910) now $81M. Highest value-add, least volatile.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 — $166M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4919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Ethanol-blending byproduct became an export line — and displaces soymeal in domestic rations too.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EIDB; Volza shipment data; SEA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India sits in the global fodder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&amp; alfalfa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$101bn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(2025), ~6.6% CAGR. US ($1.14bn exports), Australia, Canada, Spain sell to Japan, China, Korea, Saudi Arabia. Water-intensive — India, with an 11–35% domestic green-fodder deficit, is structurally absent.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608576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meal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08576" y="2286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08576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exports from Brazil alone; Argentina sets the marginal price. 2025/26 fundamentals bearish. Indian meal clears only on non-GMO premia or freight differentials.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19872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839419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Fishmeal &amp; aquafeed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94192" y="2286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~$22bn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94192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by 2035; China forecast to take &gt;50% of world imports by 2034. The one global fodder segment where India is gaining structural share.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USDA FAS; Mordor Intelligence; Precedence Research; Tridge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7830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shift, not growth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21945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merely matched FY25 — but fishmeal, feed preps and DDGS are replacing commodity meals. The basket is upgrading itself.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291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moves $100M+ lines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703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Rice-bran export ban caps HS 2302; ethanol policy feeds DDGS; China’s canola posture single-handedly sets rapeseed meal.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8006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track monthly (MEIDB)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5212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HS 2301, 2309, 2303. Headline risk: HS 2304 (South American pricing) and HS 2306 (China policy).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tradestat.commerce.gov.in (EIDB / DGCI&amp;S) · series saved in india-trade-tracker/data/fodder_hs_export_series.csv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2026-07-23T13:58:08Z</dcterms:created>
  <dcterms:modified xsi:type="dcterms:W3CDTF">2026-07-23T13:58:08Z</dcterms:modified>
</cp:coreProperties>
</file>