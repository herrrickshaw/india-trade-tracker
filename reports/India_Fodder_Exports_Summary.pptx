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Soybean meal (2304)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796</c:v>
                </c:pt>
                <c:pt idx="1">
                  <c:v>1109</c:v>
                </c:pt>
                <c:pt idx="2">
                  <c:v>473</c:v>
                </c:pt>
                <c:pt idx="3">
                  <c:v>1135</c:v>
                </c:pt>
                <c:pt idx="4">
                  <c:v>552</c:v>
                </c:pt>
                <c:pt idx="5">
                  <c:v>853</c:v>
                </c:pt>
                <c:pt idx="6">
                  <c:v>1037</c:v>
                </c:pt>
                <c:pt idx="7">
                  <c:v>852</c:v>
                </c:pt>
                <c:pt idx="8">
                  <c:v>581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oilcakes (2305–06)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297</c:v>
                </c:pt>
                <c:pt idx="1">
                  <c:v>400</c:v>
                </c:pt>
                <c:pt idx="2">
                  <c:v>355</c:v>
                </c:pt>
                <c:pt idx="3">
                  <c:v>451</c:v>
                </c:pt>
                <c:pt idx="4">
                  <c:v>480</c:v>
                </c:pt>
                <c:pt idx="5">
                  <c:v>749</c:v>
                </c:pt>
                <c:pt idx="6">
                  <c:v>677</c:v>
                </c:pt>
                <c:pt idx="7">
                  <c:v>495</c:v>
                </c:pt>
                <c:pt idx="8">
                  <c:v>460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Fishmeal (2301)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83</c:v>
                </c:pt>
                <c:pt idx="1">
                  <c:v>106</c:v>
                </c:pt>
                <c:pt idx="2">
                  <c:v>76</c:v>
                </c:pt>
                <c:pt idx="3">
                  <c:v>86</c:v>
                </c:pt>
                <c:pt idx="4">
                  <c:v>94</c:v>
                </c:pt>
                <c:pt idx="5">
                  <c:v>336</c:v>
                </c:pt>
                <c:pt idx="6">
                  <c:v>453</c:v>
                </c:pt>
                <c:pt idx="7">
                  <c:v>269</c:v>
                </c:pt>
                <c:pt idx="8">
                  <c:v>508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Feed preps (2309)</c:v>
                </c:pt>
              </c:strCache>
            </c:strRef>
          </c:tx>
          <c:spPr>
            <a:solidFill>
              <a:srgbClr val="C98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273</c:v>
                </c:pt>
                <c:pt idx="1">
                  <c:v>291</c:v>
                </c:pt>
                <c:pt idx="2">
                  <c:v>256</c:v>
                </c:pt>
                <c:pt idx="3">
                  <c:v>283</c:v>
                </c:pt>
                <c:pt idx="4">
                  <c:v>339</c:v>
                </c:pt>
                <c:pt idx="5">
                  <c:v>332</c:v>
                </c:pt>
                <c:pt idx="6">
                  <c:v>348</c:v>
                </c:pt>
                <c:pt idx="7">
                  <c:v>419</c:v>
                </c:pt>
                <c:pt idx="8">
                  <c:v>495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Bran, DDGS, straw, hay</c:v>
                </c:pt>
              </c:strCache>
            </c:strRef>
          </c:tx>
          <c:spPr>
            <a:solidFill>
              <a:srgbClr val="8A8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FY18</c:v>
                  </c:pt>
                  <c:pt idx="1">
                    <c:v>FY19</c:v>
                  </c:pt>
                  <c:pt idx="2">
                    <c:v>FY20</c:v>
                  </c:pt>
                  <c:pt idx="3">
                    <c:v>FY21</c:v>
                  </c:pt>
                  <c:pt idx="4">
                    <c:v>FY22</c:v>
                  </c:pt>
                  <c:pt idx="5">
                    <c:v>FY23</c:v>
                  </c:pt>
                  <c:pt idx="6">
                    <c:v>FY24</c:v>
                  </c:pt>
                  <c:pt idx="7">
                    <c:v>FY25</c:v>
                  </c:pt>
                  <c:pt idx="8">
                    <c:v>FY26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11</c:v>
                </c:pt>
                <c:pt idx="1">
                  <c:v>12</c:v>
                </c:pt>
                <c:pt idx="2">
                  <c:v>10</c:v>
                </c:pt>
                <c:pt idx="3">
                  <c:v>68</c:v>
                </c:pt>
                <c:pt idx="4">
                  <c:v>122</c:v>
                </c:pt>
                <c:pt idx="5">
                  <c:v>232</c:v>
                </c:pt>
                <c:pt idx="6">
                  <c:v>268</c:v>
                </c:pt>
                <c:pt idx="7">
                  <c:v>181</c:v>
                </c:pt>
                <c:pt idx="8">
                  <c:v>199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635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5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fodder exports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Commerce EIDB data, FY2017-18 → FY2025-26  ·  values in US$ million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picture: the basket is upgrading itself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Fodder-complex exports by HS heading, US$ million — total flat, mix shifting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66760" y="21031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$2.24bn
</a:t>
            </a:r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total — flat vs FY25, below the $2.78bn FY24 peak.
</a:t>
            </a:r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shrinks (soymeal −32%);
</a:t>
            </a:r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+ yellow grow (fishmeal +88%, feed preps +18%).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tradestat.commerce.gov.in · EIDB, pulled 23 Jul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exports feed protein, not fodder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3774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&amp; forage (HS 1214) = $0.01M. The real basket is oilseed meals, fishmeal and compound feed — $2.24bn.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984248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meal is priced out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66560" y="23774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−32% to $581M. Indian FOB ~$605/t vs ~$430/t for Brazil/Argentina meal. Only the non-GMO niche survives.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31596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87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Fishmeal is the boom 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4709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+88% to $508M, ~6× FY18. Aquaculture demand (China, Vietnam) + India lifting plant-capacity limits.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4315968"/>
            <a:ext cx="146304" cy="146304"/>
          </a:xfrm>
          <a:prstGeom prst="ellipse">
            <a:avLst/>
          </a:prstGeom>
          <a:solidFill>
            <a:srgbClr val="C9850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187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moves the big lines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66560" y="4709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Rice-bran ban caps bran; ethanol policy feeds DDGS; China’s canola curbs single-handedly revived rapeseed meal.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EIDB; Solvent Extractors’ Association of India; USDA; Volza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context &amp; what to track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$101bn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hay/alfalfa market — US, Australia, Canada, Spain dominate. India, water-short, stays out.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8056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&gt;30%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480560" y="24231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Brazil’s share of world soymeal exports; it sets the price India can’t beat.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~$22bn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138160" y="24231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Fishmeal market by 2035 — the one segment where India is gaining structural share.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0561320" cy="0"/>
          </a:xfrm>
          <a:prstGeom prst="line">
            <a:avLst/>
          </a:prstGeom>
          <a:noFill/>
          <a:ln w="12700">
            <a:solidFill>
              <a:srgbClr val="4A7A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(MEIDB):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— </a:t>
            </a:r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2301 (fishmeal), 2309 (feed preps), 2303 (DDGS).    </a:t>
            </a:r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 — </a:t>
            </a:r>
            <a:pPr indent="0" marL="0">
              <a:buNone/>
            </a:pPr>
            <a:r>
              <a:rPr lang="en-US" sz="1400" dirty="0">
                <a:solidFill>
                  <a:srgbClr val="DC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2304 (South American pricing), 2306 (China policy).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tradestat.commerce.gov.in (EIDB / DGCI&amp;S) · full series in india-trade-tracker/data/fodder_hs_export_series.csv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2026-07-24T03:56:23Z</dcterms:created>
  <dcterms:modified xsi:type="dcterms:W3CDTF">2026-07-24T03:56:23Z</dcterms:modified>
</cp:coreProperties>
</file>